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9" r:id="rId4"/>
    <p:sldId id="264" r:id="rId5"/>
    <p:sldId id="260" r:id="rId6"/>
    <p:sldId id="261" r:id="rId7"/>
    <p:sldId id="266" r:id="rId8"/>
    <p:sldId id="262" r:id="rId9"/>
    <p:sldId id="267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D9CC4D-6AC1-48F7-BE15-E38BDA29EFA8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8051C-B7AE-429C-A7BB-0FB056DF3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885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8051C-B7AE-429C-A7BB-0FB056DF3D4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825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BBA3C-278D-D400-AC19-354919A00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C6AA8C-2028-5B97-1D46-5AE9C41EE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D3AD1-4D74-689B-6713-56C69AE00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54154-ADBB-6ECD-A29B-6C717BA8B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8051C-B7AE-429C-A7BB-0FB056DF3D4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880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8051C-B7AE-429C-A7BB-0FB056DF3D4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134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2F1C9-3D8D-0CF4-8713-46CF5ECC1C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6AAFE-83C6-C302-D24F-25E365F1D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FAF7C-77B8-4E00-A2F5-8313C3040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128D4-CD06-43DC-8458-64D6A16720F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88732-6A30-9DD3-B69A-259B72E2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B9B98-12E2-D625-97D7-0513624D4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689A-0CB9-4533-A0AD-059595FA1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317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BE75D-C452-1C2C-7E43-1029FC88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34257-7638-F979-A33A-E69EDCCFF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2B62A-887C-37AC-FA8D-E3F037718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128D4-CD06-43DC-8458-64D6A16720F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B5985-4353-0A5A-7933-B77E6758D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D838A-61FC-19F7-1B97-EFCD5F950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689A-0CB9-4533-A0AD-059595FA1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447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060EA-6385-380B-F109-2A3E11134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C5F7F-0B9B-EB66-C50E-95972862E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A38C6-B40F-4458-9B04-63BA93E65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128D4-CD06-43DC-8458-64D6A16720F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181AE-6DE7-B889-6F4B-43196EF7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D368C-7825-9118-16BA-8536043D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689A-0CB9-4533-A0AD-059595FA1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224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C95B8-CF32-4315-E078-74541E59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AB60C-9B42-D7F3-98D1-223B1C758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2F30DD-71EB-C3F1-3AB3-21960699D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66CEA-77BB-BE4F-47FC-5C279E03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128D4-CD06-43DC-8458-64D6A16720F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B34C7-C134-9AC0-4212-4F87FA736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6F874-1A6B-4315-12B8-4296D5E5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689A-0CB9-4533-A0AD-059595FA1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253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8A54E-4EB0-6B00-9A84-1DC83ADFC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B4A0F-F93A-71FA-F3ED-01520DC13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E8EE8-1F54-809E-EE70-2F9B24BA9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CB4226-A47A-3422-21BD-2E1B6612A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C391A6-9FCC-4274-7F26-F19931780D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293F4C-D1E9-5E07-AB64-9A1F23DE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128D4-CD06-43DC-8458-64D6A16720F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A19070-334F-28C3-37E9-55180C52C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CAB7B-3600-D4E0-BAD6-165A5142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689A-0CB9-4533-A0AD-059595FA1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342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271B-B173-D23C-2357-ABF7046DF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BC65EE-D803-8873-451F-A3795FD18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128D4-CD06-43DC-8458-64D6A16720F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F03DF-B078-8D2B-4E2E-30CB353F7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2D14C4-5AD1-0153-E33F-91990732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689A-0CB9-4533-A0AD-059595FA1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614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F82DBA-6E68-0D32-5721-696279588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128D4-CD06-43DC-8458-64D6A16720F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35BDC7-BE18-26A9-3E70-65525166F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D356-F205-F276-6B94-101C2418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689A-0CB9-4533-A0AD-059595FA1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22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3786-B2F1-D985-E652-8417735D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399CC-B485-7867-8567-928F74C90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D2681-5BAB-16B8-7B70-6970B3CF4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28A32-52F7-0853-8AD9-A9DF4F571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128D4-CD06-43DC-8458-64D6A16720F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2CD5C-7D28-9D91-4D5C-D187BDEF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4C0A1-7A8C-DBE0-96E0-AA54F81DA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689A-0CB9-4533-A0AD-059595FA1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628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ADD4E-56B5-0EE9-90A4-774C165C9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0E0F0B-EBF3-E2A0-EE1C-B65AFE8289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1AB9AE-2EDD-B638-5A57-C58A3261B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AF09D-F75E-3DE4-D1E3-8BFFB1A44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128D4-CD06-43DC-8458-64D6A16720F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538CC-9B2C-A328-677F-17C93E061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DE9C8-75F7-BFC7-0FA9-16513A4C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689A-0CB9-4533-A0AD-059595FA1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68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25F6B-796E-0C0E-430B-9F08B878F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B9C4B2-F181-960E-F879-D32B37ABC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3B10E-C323-F1CA-04C4-67937327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128D4-CD06-43DC-8458-64D6A16720F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2DFF7-2788-77C7-EA43-954AB8EA5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7691D-70E3-CB56-4F6F-4B92A6A56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689A-0CB9-4533-A0AD-059595FA1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953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880E8-BB82-E03E-2D55-F657FB0CA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D5FB92-DE17-670B-A1A4-74724476F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F57F5-5E75-DBA7-1FE0-0BAE78875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128D4-CD06-43DC-8458-64D6A16720F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0F8ED-BCEA-2BA5-CF2E-14594FDBA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5A267-691B-E357-1FA3-9EE8791DA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689A-0CB9-4533-A0AD-059595FA1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980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F0E4FB-B0FE-514C-0124-83B788E1F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0A122-0D17-5643-4911-CA96C4ECE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E7CDC-5CEF-4A00-A8B6-D0055B8C5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128D4-CD06-43DC-8458-64D6A16720F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2BFF7-57BA-CC50-A695-E69EA13D5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31AF7-B61C-92C2-E3ED-6FE2CBC3E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6689A-0CB9-4533-A0AD-059595FA1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54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rr794\Downloads\README%20Documentation.pdf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770ADAFF-8765-B0D9-5BAC-252F7F1FB63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6787" y="177479"/>
            <a:ext cx="7378425" cy="10456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1B98A0-D24D-43FE-9813-DEC918F31B66}"/>
              </a:ext>
            </a:extLst>
          </p:cNvPr>
          <p:cNvSpPr txBox="1"/>
          <p:nvPr/>
        </p:nvSpPr>
        <p:spPr>
          <a:xfrm>
            <a:off x="1343852" y="1561072"/>
            <a:ext cx="9504294" cy="3960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45155" marR="3139440" algn="ctr">
              <a:lnSpc>
                <a:spcPct val="200000"/>
              </a:lnSpc>
              <a:spcBef>
                <a:spcPts val="100"/>
              </a:spcBef>
            </a:pPr>
            <a:r>
              <a:rPr lang="en-US" sz="1800" b="1" spc="-10" dirty="0">
                <a:latin typeface="Cambria"/>
                <a:cs typeface="Cambria"/>
              </a:rPr>
              <a:t>Academic</a:t>
            </a:r>
            <a:r>
              <a:rPr lang="en-US" sz="1800" b="1" spc="-45" dirty="0">
                <a:latin typeface="Cambria"/>
                <a:cs typeface="Cambria"/>
              </a:rPr>
              <a:t> </a:t>
            </a:r>
            <a:r>
              <a:rPr lang="en-US" sz="1800" b="1" spc="-25" dirty="0">
                <a:latin typeface="Cambria"/>
                <a:cs typeface="Cambria"/>
              </a:rPr>
              <a:t>Year</a:t>
            </a:r>
            <a:r>
              <a:rPr lang="en-US" sz="1800" b="1" spc="-40" dirty="0">
                <a:latin typeface="Cambria"/>
                <a:cs typeface="Cambria"/>
              </a:rPr>
              <a:t> </a:t>
            </a:r>
            <a:r>
              <a:rPr lang="en-US" sz="1800" b="1" dirty="0">
                <a:latin typeface="Cambria"/>
                <a:cs typeface="Cambria"/>
              </a:rPr>
              <a:t>2025</a:t>
            </a:r>
            <a:r>
              <a:rPr lang="en-US" sz="1800" b="1" spc="-40" dirty="0">
                <a:latin typeface="Cambria"/>
                <a:cs typeface="Cambria"/>
              </a:rPr>
              <a:t> </a:t>
            </a:r>
            <a:r>
              <a:rPr lang="en-US" sz="1800" b="1" dirty="0">
                <a:latin typeface="Cambria"/>
                <a:cs typeface="Cambria"/>
              </a:rPr>
              <a:t>-</a:t>
            </a:r>
            <a:r>
              <a:rPr lang="en-US" sz="1800" b="1" spc="-45" dirty="0">
                <a:latin typeface="Cambria"/>
                <a:cs typeface="Cambria"/>
              </a:rPr>
              <a:t> </a:t>
            </a:r>
            <a:r>
              <a:rPr lang="en-US" b="1" spc="-25" dirty="0">
                <a:latin typeface="Cambria"/>
                <a:cs typeface="Cambria"/>
              </a:rPr>
              <a:t>26</a:t>
            </a:r>
            <a:endParaRPr lang="en-US" sz="1800" b="1" spc="-25" dirty="0">
              <a:latin typeface="Cambria"/>
              <a:cs typeface="Cambria"/>
            </a:endParaRPr>
          </a:p>
          <a:p>
            <a:pPr marL="3145155" marR="3139440" algn="ctr">
              <a:lnSpc>
                <a:spcPct val="20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C00000"/>
                </a:solidFill>
                <a:latin typeface="Cambria"/>
                <a:cs typeface="Cambria"/>
              </a:rPr>
              <a:t>S6</a:t>
            </a:r>
            <a:r>
              <a:rPr lang="en-US" sz="1800" b="1" spc="-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solidFill>
                  <a:srgbClr val="C00000"/>
                </a:solidFill>
                <a:latin typeface="Cambria"/>
                <a:cs typeface="Cambria"/>
              </a:rPr>
              <a:t>MINI</a:t>
            </a:r>
            <a:r>
              <a:rPr lang="en-US" sz="1800" b="1" spc="-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lang="en-US" sz="1800" b="1" spc="-10" dirty="0">
                <a:solidFill>
                  <a:srgbClr val="C00000"/>
                </a:solidFill>
                <a:latin typeface="Cambria"/>
                <a:cs typeface="Cambria"/>
              </a:rPr>
              <a:t>PROJECT</a:t>
            </a:r>
            <a:r>
              <a:rPr lang="en-US" sz="1800" b="1" spc="-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endParaRPr lang="en-US" sz="1800" dirty="0">
              <a:latin typeface="Cambria"/>
              <a:cs typeface="Cambria"/>
            </a:endParaRPr>
          </a:p>
          <a:p>
            <a:pPr algn="ctr">
              <a:lnSpc>
                <a:spcPct val="200000"/>
              </a:lnSpc>
            </a:pPr>
            <a:r>
              <a:rPr lang="en-US" sz="1800" b="1" dirty="0">
                <a:latin typeface="Cambria"/>
                <a:cs typeface="Cambria"/>
              </a:rPr>
              <a:t>PHASE </a:t>
            </a:r>
            <a:r>
              <a:rPr lang="en-US" b="1" dirty="0">
                <a:latin typeface="Cambria"/>
                <a:cs typeface="Cambria"/>
              </a:rPr>
              <a:t>1</a:t>
            </a:r>
            <a:endParaRPr lang="en-US" sz="1800" dirty="0">
              <a:latin typeface="Cambria"/>
              <a:cs typeface="Cambria"/>
            </a:endParaRPr>
          </a:p>
          <a:p>
            <a:pPr algn="ctr">
              <a:lnSpc>
                <a:spcPct val="200000"/>
              </a:lnSpc>
              <a:spcBef>
                <a:spcPts val="885"/>
              </a:spcBef>
            </a:pPr>
            <a:r>
              <a:rPr lang="en-US" sz="2400" spc="-20" dirty="0">
                <a:solidFill>
                  <a:schemeClr val="accent1"/>
                </a:solidFill>
                <a:latin typeface="Cambria"/>
                <a:cs typeface="Cambria"/>
              </a:rPr>
              <a:t>PROJECT</a:t>
            </a:r>
            <a:r>
              <a:rPr lang="en-US" sz="2400" spc="-65" dirty="0">
                <a:solidFill>
                  <a:schemeClr val="accent1"/>
                </a:solidFill>
                <a:latin typeface="Cambria"/>
                <a:cs typeface="Cambria"/>
              </a:rPr>
              <a:t> </a:t>
            </a:r>
            <a:r>
              <a:rPr lang="en-US" sz="2400" spc="-20" dirty="0">
                <a:solidFill>
                  <a:schemeClr val="accent1"/>
                </a:solidFill>
                <a:latin typeface="Cambria"/>
                <a:cs typeface="Cambria"/>
              </a:rPr>
              <a:t>TITLE</a:t>
            </a:r>
          </a:p>
          <a:p>
            <a:pPr algn="ctr"/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RESULT PROCESSING SYSTEM</a:t>
            </a:r>
          </a:p>
          <a:p>
            <a:pPr algn="just">
              <a:lnSpc>
                <a:spcPct val="100000"/>
              </a:lnSpc>
              <a:spcBef>
                <a:spcPts val="885"/>
              </a:spcBef>
            </a:pPr>
            <a:endParaRPr lang="en-US" sz="2400" b="1" spc="-20" dirty="0">
              <a:solidFill>
                <a:schemeClr val="accent1"/>
              </a:solidFill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endParaRPr lang="en-US" sz="2400" dirty="0">
              <a:latin typeface="Cambria"/>
              <a:cs typeface="Cambria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B6D37260-1D04-57B1-6949-649FA79ADE49}"/>
              </a:ext>
            </a:extLst>
          </p:cNvPr>
          <p:cNvSpPr/>
          <p:nvPr/>
        </p:nvSpPr>
        <p:spPr>
          <a:xfrm>
            <a:off x="919368" y="1392107"/>
            <a:ext cx="10353261" cy="4954196"/>
          </a:xfrm>
          <a:custGeom>
            <a:avLst/>
            <a:gdLst/>
            <a:ahLst/>
            <a:cxnLst/>
            <a:rect l="l" t="t" r="r" b="b"/>
            <a:pathLst>
              <a:path w="10515600" h="5193665">
                <a:moveTo>
                  <a:pt x="0" y="0"/>
                </a:moveTo>
                <a:lnTo>
                  <a:pt x="10515599" y="0"/>
                </a:lnTo>
                <a:lnTo>
                  <a:pt x="10515599" y="5193289"/>
                </a:lnTo>
                <a:lnTo>
                  <a:pt x="0" y="519328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228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E296E-F45F-5394-F60B-8409EE54A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842840-A5A2-61DB-F71D-13DDFBD9B87A}"/>
              </a:ext>
            </a:extLst>
          </p:cNvPr>
          <p:cNvSpPr txBox="1"/>
          <p:nvPr/>
        </p:nvSpPr>
        <p:spPr>
          <a:xfrm>
            <a:off x="1173641" y="795760"/>
            <a:ext cx="9844711" cy="6344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Bef>
                <a:spcPts val="885"/>
              </a:spcBef>
            </a:pPr>
            <a:r>
              <a:rPr lang="en-US" sz="2000" b="1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Aim</a:t>
            </a:r>
          </a:p>
          <a:p>
            <a:pPr algn="just">
              <a:lnSpc>
                <a:spcPct val="150000"/>
              </a:lnSpc>
              <a:spcBef>
                <a:spcPts val="885"/>
              </a:spcBef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000" dirty="0"/>
              <a:t>To design and develop a Result Processing System that enables efficient management, storage, analysis, and retrieval of student academic results through a secure and centralized digital platform using modern web technologies.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  <a:spcBef>
                <a:spcPts val="885"/>
              </a:spcBef>
            </a:pPr>
            <a:r>
              <a:rPr lang="en-US" sz="2000" b="1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Objective</a:t>
            </a:r>
          </a:p>
          <a:p>
            <a:pPr marL="342900" indent="-342900" algn="just">
              <a:lnSpc>
                <a:spcPct val="150000"/>
              </a:lnSpc>
              <a:spcBef>
                <a:spcPts val="885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To provide role-based portals for administrators/staff and students.</a:t>
            </a:r>
          </a:p>
          <a:p>
            <a:pPr marL="342900" indent="-342900" algn="just">
              <a:lnSpc>
                <a:spcPct val="150000"/>
              </a:lnSpc>
              <a:spcBef>
                <a:spcPts val="885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To enable secure login using JWT authentication and role-based access control.</a:t>
            </a:r>
          </a:p>
          <a:p>
            <a:pPr marL="342900" indent="-342900" algn="just">
              <a:lnSpc>
                <a:spcPct val="150000"/>
              </a:lnSpc>
              <a:spcBef>
                <a:spcPts val="885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To allow administrators to create, update, and delete student accounts</a:t>
            </a:r>
          </a:p>
          <a:p>
            <a:pPr marL="342900" indent="-342900" algn="just">
              <a:lnSpc>
                <a:spcPct val="150000"/>
              </a:lnSpc>
              <a:spcBef>
                <a:spcPts val="885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To allow administrators to publish, edit, and delete semester results (Semester 1 to 8)</a:t>
            </a:r>
          </a:p>
          <a:p>
            <a:pPr marL="342900" indent="-342900" algn="just">
              <a:lnSpc>
                <a:spcPct val="150000"/>
              </a:lnSpc>
              <a:spcBef>
                <a:spcPts val="885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To enable students to view semester-wise results and track academic progress over time.</a:t>
            </a:r>
          </a:p>
          <a:p>
            <a:pPr marL="342900" indent="-342900" algn="just">
              <a:lnSpc>
                <a:spcPct val="150000"/>
              </a:lnSpc>
              <a:spcBef>
                <a:spcPts val="885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To implement automatic calculation of total, percentage, and grade from marks.</a:t>
            </a:r>
            <a:br>
              <a:rPr lang="en-US" sz="2000" dirty="0"/>
            </a:br>
            <a:endParaRPr lang="en-US" sz="2000" b="1" dirty="0">
              <a:solidFill>
                <a:schemeClr val="accent5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E6818E3-5120-86F5-BA8A-FE6A1BF13B81}"/>
              </a:ext>
            </a:extLst>
          </p:cNvPr>
          <p:cNvSpPr/>
          <p:nvPr/>
        </p:nvSpPr>
        <p:spPr>
          <a:xfrm>
            <a:off x="919369" y="795760"/>
            <a:ext cx="10353261" cy="5913153"/>
          </a:xfrm>
          <a:custGeom>
            <a:avLst/>
            <a:gdLst/>
            <a:ahLst/>
            <a:cxnLst/>
            <a:rect l="l" t="t" r="r" b="b"/>
            <a:pathLst>
              <a:path w="10515600" h="5193665">
                <a:moveTo>
                  <a:pt x="0" y="0"/>
                </a:moveTo>
                <a:lnTo>
                  <a:pt x="10515599" y="0"/>
                </a:lnTo>
                <a:lnTo>
                  <a:pt x="10515599" y="5193289"/>
                </a:lnTo>
                <a:lnTo>
                  <a:pt x="0" y="519328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90A590-71D0-3AF5-DD4E-EB2BADC9A323}"/>
              </a:ext>
            </a:extLst>
          </p:cNvPr>
          <p:cNvSpPr txBox="1"/>
          <p:nvPr/>
        </p:nvSpPr>
        <p:spPr>
          <a:xfrm>
            <a:off x="2720419" y="9939"/>
            <a:ext cx="6751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AIM &amp; OBJECTIVES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1541565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2CE5F-6603-9365-C4DF-7062847FB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F2B461-DED3-DB64-36CA-359D7A41445E}"/>
              </a:ext>
            </a:extLst>
          </p:cNvPr>
          <p:cNvSpPr txBox="1"/>
          <p:nvPr/>
        </p:nvSpPr>
        <p:spPr>
          <a:xfrm>
            <a:off x="1173641" y="795760"/>
            <a:ext cx="9844711" cy="5815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885"/>
              </a:spcBef>
            </a:pPr>
            <a:r>
              <a:rPr lang="en-IN" sz="2000" b="1" dirty="0">
                <a:solidFill>
                  <a:schemeClr val="accent5"/>
                </a:solidFill>
              </a:rPr>
              <a:t>Problem Statement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</a:p>
          <a:p>
            <a:pPr algn="just">
              <a:lnSpc>
                <a:spcPct val="150000"/>
              </a:lnSpc>
              <a:spcBef>
                <a:spcPts val="885"/>
              </a:spcBef>
            </a:pPr>
            <a:r>
              <a:rPr lang="en-US" sz="2000" dirty="0"/>
              <a:t>In many institutions, student results are managed using manual methods or semi-digital systems such as spreadsheets or paper records. This leads to inefficiency, mismanagement of records, and delays in accessing academic performance data.</a:t>
            </a:r>
          </a:p>
          <a:p>
            <a:pPr algn="just">
              <a:lnSpc>
                <a:spcPct val="150000"/>
              </a:lnSpc>
              <a:spcBef>
                <a:spcPts val="885"/>
              </a:spcBef>
            </a:pPr>
            <a:r>
              <a:rPr lang="en-US" sz="2000" b="1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Objective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develop a secure and user-friendly interface for role-based login and result access.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implement an admin dashboard for efficient management of student accounts and semester results.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design a centralized MongoDB database for structured and secure academic record storage.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enable real-time result publishing and retrieval for improved transparency.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implement JWT-based authentication for secure session handling and access control.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16C51DF6-7434-5FD6-9D53-F525F611E390}"/>
              </a:ext>
            </a:extLst>
          </p:cNvPr>
          <p:cNvSpPr/>
          <p:nvPr/>
        </p:nvSpPr>
        <p:spPr>
          <a:xfrm>
            <a:off x="919369" y="795760"/>
            <a:ext cx="10353261" cy="5913153"/>
          </a:xfrm>
          <a:custGeom>
            <a:avLst/>
            <a:gdLst/>
            <a:ahLst/>
            <a:cxnLst/>
            <a:rect l="l" t="t" r="r" b="b"/>
            <a:pathLst>
              <a:path w="10515600" h="5193665">
                <a:moveTo>
                  <a:pt x="0" y="0"/>
                </a:moveTo>
                <a:lnTo>
                  <a:pt x="10515599" y="0"/>
                </a:lnTo>
                <a:lnTo>
                  <a:pt x="10515599" y="5193289"/>
                </a:lnTo>
                <a:lnTo>
                  <a:pt x="0" y="519328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372492-E028-ABE5-C110-C34B3F28542E}"/>
              </a:ext>
            </a:extLst>
          </p:cNvPr>
          <p:cNvSpPr txBox="1"/>
          <p:nvPr/>
        </p:nvSpPr>
        <p:spPr>
          <a:xfrm>
            <a:off x="2958960" y="61771"/>
            <a:ext cx="6751154" cy="575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320"/>
              </a:lnSpc>
            </a:pPr>
            <a:r>
              <a:rPr lang="en-US" sz="2400" b="1" spc="-15" dirty="0">
                <a:solidFill>
                  <a:srgbClr val="2F5496"/>
                </a:solidFill>
                <a:latin typeface="Cambria Bold"/>
                <a:ea typeface="Cambria Bold"/>
                <a:cs typeface="Cambria Bold"/>
                <a:sym typeface="Cambria Bold"/>
              </a:rPr>
              <a:t>PROBLEM STATEMENT &amp; PROPOSED SOLUTION</a:t>
            </a:r>
          </a:p>
        </p:txBody>
      </p:sp>
    </p:spTree>
    <p:extLst>
      <p:ext uri="{BB962C8B-B14F-4D97-AF65-F5344CB8AC3E}">
        <p14:creationId xmlns:p14="http://schemas.microsoft.com/office/powerpoint/2010/main" val="1593104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8FD26-5F1B-A7E0-95D6-8B51E4CC4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BAA9CB3-2FCB-68DA-4A39-23FB3EA072AC}"/>
              </a:ext>
            </a:extLst>
          </p:cNvPr>
          <p:cNvSpPr txBox="1"/>
          <p:nvPr/>
        </p:nvSpPr>
        <p:spPr>
          <a:xfrm>
            <a:off x="1262474" y="1240894"/>
            <a:ext cx="9504294" cy="2238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885"/>
              </a:spcBef>
              <a:buFont typeface="Wingdings" panose="05000000000000000000" pitchFamily="2" charset="2"/>
              <a:buChar char="Ø"/>
            </a:pPr>
            <a:r>
              <a:rPr lang="en-US" sz="1900" dirty="0"/>
              <a:t>The MERN stack (MongoDB, Express.js, React.js, Node.js) is selected for this project due to its scalability, flexibility, and full-stack JavaScript capability. React is used to build dynamic, route-based dashboards for both staff and students. Express.js with Node.js handles backend API requests and business logic. MongoDB, integrated using Mongoose, stores user and result data in a structured format.</a:t>
            </a:r>
            <a:endParaRPr lang="en-US" sz="1900" dirty="0">
              <a:latin typeface="Cambria"/>
              <a:cs typeface="Cambria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16768F99-BFDA-87A2-B0F5-464165376474}"/>
              </a:ext>
            </a:extLst>
          </p:cNvPr>
          <p:cNvSpPr/>
          <p:nvPr/>
        </p:nvSpPr>
        <p:spPr>
          <a:xfrm>
            <a:off x="919367" y="1282777"/>
            <a:ext cx="10353261" cy="4954196"/>
          </a:xfrm>
          <a:custGeom>
            <a:avLst/>
            <a:gdLst/>
            <a:ahLst/>
            <a:cxnLst/>
            <a:rect l="l" t="t" r="r" b="b"/>
            <a:pathLst>
              <a:path w="10515600" h="5193665">
                <a:moveTo>
                  <a:pt x="0" y="0"/>
                </a:moveTo>
                <a:lnTo>
                  <a:pt x="10515599" y="0"/>
                </a:lnTo>
                <a:lnTo>
                  <a:pt x="10515599" y="5193289"/>
                </a:lnTo>
                <a:lnTo>
                  <a:pt x="0" y="519328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9D15C-1F46-19B6-205F-2363CE63BFBD}"/>
              </a:ext>
            </a:extLst>
          </p:cNvPr>
          <p:cNvSpPr txBox="1"/>
          <p:nvPr/>
        </p:nvSpPr>
        <p:spPr>
          <a:xfrm>
            <a:off x="2720421" y="511697"/>
            <a:ext cx="6751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i="0" dirty="0">
                <a:solidFill>
                  <a:schemeClr val="accent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TECH STACK &amp; ARCHITECTURE</a:t>
            </a:r>
            <a:endParaRPr lang="en-IN" sz="24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E025DD-865B-2E53-B3B4-9AD684D32DFF}"/>
              </a:ext>
            </a:extLst>
          </p:cNvPr>
          <p:cNvSpPr/>
          <p:nvPr/>
        </p:nvSpPr>
        <p:spPr>
          <a:xfrm>
            <a:off x="2398434" y="3658317"/>
            <a:ext cx="1172818" cy="6261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4F8F1A-423F-20D1-5ED6-9985F9FFCBFF}"/>
              </a:ext>
            </a:extLst>
          </p:cNvPr>
          <p:cNvSpPr/>
          <p:nvPr/>
        </p:nvSpPr>
        <p:spPr>
          <a:xfrm>
            <a:off x="4515264" y="3655168"/>
            <a:ext cx="1967947" cy="6261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React UI (Frontend)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A35FD81-0C3C-E752-2564-8F0E8BD1C95A}"/>
              </a:ext>
            </a:extLst>
          </p:cNvPr>
          <p:cNvCxnSpPr>
            <a:cxnSpLocks/>
          </p:cNvCxnSpPr>
          <p:nvPr/>
        </p:nvCxnSpPr>
        <p:spPr>
          <a:xfrm>
            <a:off x="3571252" y="3968250"/>
            <a:ext cx="94401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1244ACD-022F-BE29-83D2-288E95759CF5}"/>
              </a:ext>
            </a:extLst>
          </p:cNvPr>
          <p:cNvSpPr/>
          <p:nvPr/>
        </p:nvSpPr>
        <p:spPr>
          <a:xfrm>
            <a:off x="7503628" y="3638885"/>
            <a:ext cx="1967947" cy="6261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Express.js API (Backend)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28C25E-13CF-E787-4899-ABCFE63838B4}"/>
              </a:ext>
            </a:extLst>
          </p:cNvPr>
          <p:cNvCxnSpPr>
            <a:cxnSpLocks/>
          </p:cNvCxnSpPr>
          <p:nvPr/>
        </p:nvCxnSpPr>
        <p:spPr>
          <a:xfrm>
            <a:off x="6483211" y="3951968"/>
            <a:ext cx="102041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13D4514-C227-0352-D2AE-BA9BF6D89D21}"/>
              </a:ext>
            </a:extLst>
          </p:cNvPr>
          <p:cNvSpPr/>
          <p:nvPr/>
        </p:nvSpPr>
        <p:spPr>
          <a:xfrm>
            <a:off x="6296025" y="4839455"/>
            <a:ext cx="1967947" cy="6261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MongoDB (Database)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1E6D5C-4F4B-9039-6FBE-2BB698238753}"/>
              </a:ext>
            </a:extLst>
          </p:cNvPr>
          <p:cNvSpPr/>
          <p:nvPr/>
        </p:nvSpPr>
        <p:spPr>
          <a:xfrm>
            <a:off x="3259620" y="4862941"/>
            <a:ext cx="1967947" cy="6261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Response back to React UI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62C6C76-83C8-C047-B73F-6B749E983FC0}"/>
              </a:ext>
            </a:extLst>
          </p:cNvPr>
          <p:cNvCxnSpPr>
            <a:cxnSpLocks/>
            <a:stCxn id="22" idx="2"/>
            <a:endCxn id="28" idx="0"/>
          </p:cNvCxnSpPr>
          <p:nvPr/>
        </p:nvCxnSpPr>
        <p:spPr>
          <a:xfrm flipH="1">
            <a:off x="7279999" y="4265050"/>
            <a:ext cx="1207603" cy="574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69F5E64-B175-433E-ECC6-B25458B7DEAC}"/>
              </a:ext>
            </a:extLst>
          </p:cNvPr>
          <p:cNvCxnSpPr>
            <a:stCxn id="28" idx="1"/>
            <a:endCxn id="29" idx="3"/>
          </p:cNvCxnSpPr>
          <p:nvPr/>
        </p:nvCxnSpPr>
        <p:spPr>
          <a:xfrm flipH="1">
            <a:off x="5227567" y="5152538"/>
            <a:ext cx="1068458" cy="234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38820F9-8658-9D28-A5B8-57A2CD941BF9}"/>
              </a:ext>
            </a:extLst>
          </p:cNvPr>
          <p:cNvCxnSpPr>
            <a:stCxn id="29" idx="0"/>
            <a:endCxn id="2" idx="2"/>
          </p:cNvCxnSpPr>
          <p:nvPr/>
        </p:nvCxnSpPr>
        <p:spPr>
          <a:xfrm flipH="1" flipV="1">
            <a:off x="2984843" y="4284482"/>
            <a:ext cx="1258751" cy="578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552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7BD32-4570-F7FE-DF96-511F81116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AD21B5D-736A-8551-C152-A2317BD58BDB}"/>
              </a:ext>
            </a:extLst>
          </p:cNvPr>
          <p:cNvSpPr txBox="1"/>
          <p:nvPr/>
        </p:nvSpPr>
        <p:spPr>
          <a:xfrm>
            <a:off x="1343850" y="1282777"/>
            <a:ext cx="9504294" cy="169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885"/>
              </a:spcBef>
              <a:buFont typeface="Wingdings" panose="05000000000000000000" pitchFamily="2" charset="2"/>
              <a:buChar char="Ø"/>
            </a:pPr>
            <a:r>
              <a:rPr lang="en-US" sz="2400" dirty="0"/>
              <a:t>The database schema is designed to store user accounts, semester results, notifications, and analytical data in a structured and scalable manner.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3CA976E-F162-D8BF-7528-ED074D96A9D4}"/>
              </a:ext>
            </a:extLst>
          </p:cNvPr>
          <p:cNvSpPr/>
          <p:nvPr/>
        </p:nvSpPr>
        <p:spPr>
          <a:xfrm>
            <a:off x="919367" y="1282777"/>
            <a:ext cx="10353261" cy="5426136"/>
          </a:xfrm>
          <a:custGeom>
            <a:avLst/>
            <a:gdLst/>
            <a:ahLst/>
            <a:cxnLst/>
            <a:rect l="l" t="t" r="r" b="b"/>
            <a:pathLst>
              <a:path w="10515600" h="5193665">
                <a:moveTo>
                  <a:pt x="0" y="0"/>
                </a:moveTo>
                <a:lnTo>
                  <a:pt x="10515599" y="0"/>
                </a:lnTo>
                <a:lnTo>
                  <a:pt x="10515599" y="5193289"/>
                </a:lnTo>
                <a:lnTo>
                  <a:pt x="0" y="519328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250B6-632D-EF20-D673-4836957261CA}"/>
              </a:ext>
            </a:extLst>
          </p:cNvPr>
          <p:cNvSpPr txBox="1"/>
          <p:nvPr/>
        </p:nvSpPr>
        <p:spPr>
          <a:xfrm>
            <a:off x="2367372" y="549221"/>
            <a:ext cx="74572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DB Schema &amp; Entity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8D2936-E58B-E2AD-DCB6-4561393B9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850" y="5302029"/>
            <a:ext cx="10149505" cy="1287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User → Result : One student can have multiple semester results (1 : N)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Admin (role-based user) → Result : Admin can create, update, and delete results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Result → Notification : Each published result generates notifications for students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2AD1E-C196-4745-555C-B8F82BCA0A12}"/>
              </a:ext>
            </a:extLst>
          </p:cNvPr>
          <p:cNvSpPr txBox="1"/>
          <p:nvPr/>
        </p:nvSpPr>
        <p:spPr>
          <a:xfrm>
            <a:off x="1777498" y="3010190"/>
            <a:ext cx="262846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Users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name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email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password (hashed)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role (staff / student)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roll_no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C978D2-8B9C-13DC-A673-2DC74750F50B}"/>
              </a:ext>
            </a:extLst>
          </p:cNvPr>
          <p:cNvSpPr txBox="1"/>
          <p:nvPr/>
        </p:nvSpPr>
        <p:spPr>
          <a:xfrm>
            <a:off x="4793152" y="2962927"/>
            <a:ext cx="2445218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Results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roll_no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semester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subjects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total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percentage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grade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created_by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91F9CD-0B43-A22A-14F9-9C7AA5C15874}"/>
              </a:ext>
            </a:extLst>
          </p:cNvPr>
          <p:cNvSpPr txBox="1"/>
          <p:nvPr/>
        </p:nvSpPr>
        <p:spPr>
          <a:xfrm>
            <a:off x="7595102" y="2962927"/>
            <a:ext cx="28194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Notifications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user_id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message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isRead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createdAt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650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7670F-7822-4218-A50B-15427953F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D1FCB5-2C48-E13B-9F2E-A7A02C5699DA}"/>
              </a:ext>
            </a:extLst>
          </p:cNvPr>
          <p:cNvSpPr txBox="1"/>
          <p:nvPr/>
        </p:nvSpPr>
        <p:spPr>
          <a:xfrm>
            <a:off x="919367" y="1282777"/>
            <a:ext cx="10353261" cy="1561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885"/>
              </a:spcBef>
              <a:buFont typeface="Wingdings" panose="05000000000000000000" pitchFamily="2" charset="2"/>
              <a:buChar char="Ø"/>
            </a:pPr>
            <a:r>
              <a:rPr lang="en-US" sz="2200" dirty="0"/>
              <a:t>The UI/UX design focuses on simplicity, clarity, and usability. The application provides separate dashboards for administrators and students. The admin dashboard includes result management features, analytics panels, and filtering options.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0EB87F11-E2A0-D2DD-1AD3-CD31335F5B4D}"/>
              </a:ext>
            </a:extLst>
          </p:cNvPr>
          <p:cNvSpPr/>
          <p:nvPr/>
        </p:nvSpPr>
        <p:spPr>
          <a:xfrm>
            <a:off x="919367" y="1282777"/>
            <a:ext cx="10353261" cy="5446014"/>
          </a:xfrm>
          <a:custGeom>
            <a:avLst/>
            <a:gdLst/>
            <a:ahLst/>
            <a:cxnLst/>
            <a:rect l="l" t="t" r="r" b="b"/>
            <a:pathLst>
              <a:path w="10515600" h="5193665">
                <a:moveTo>
                  <a:pt x="0" y="0"/>
                </a:moveTo>
                <a:lnTo>
                  <a:pt x="10515599" y="0"/>
                </a:lnTo>
                <a:lnTo>
                  <a:pt x="10515599" y="5193289"/>
                </a:lnTo>
                <a:lnTo>
                  <a:pt x="0" y="519328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77BA36-A776-8F3D-0286-1043707EBE45}"/>
              </a:ext>
            </a:extLst>
          </p:cNvPr>
          <p:cNvSpPr txBox="1"/>
          <p:nvPr/>
        </p:nvSpPr>
        <p:spPr>
          <a:xfrm>
            <a:off x="2720421" y="511697"/>
            <a:ext cx="6751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UI/UX WIREFRAMES &amp; THEME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ABC44F-9825-C9B7-D5C2-28216DBE1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843974"/>
            <a:ext cx="10149840" cy="383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00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238C3-5DA5-52A9-682D-D8C79916D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75850B6D-098D-7610-B9B1-5F84E8950C20}"/>
              </a:ext>
            </a:extLst>
          </p:cNvPr>
          <p:cNvSpPr/>
          <p:nvPr/>
        </p:nvSpPr>
        <p:spPr>
          <a:xfrm>
            <a:off x="919367" y="1282777"/>
            <a:ext cx="10353261" cy="5446014"/>
          </a:xfrm>
          <a:custGeom>
            <a:avLst/>
            <a:gdLst/>
            <a:ahLst/>
            <a:cxnLst/>
            <a:rect l="l" t="t" r="r" b="b"/>
            <a:pathLst>
              <a:path w="10515600" h="5193665">
                <a:moveTo>
                  <a:pt x="0" y="0"/>
                </a:moveTo>
                <a:lnTo>
                  <a:pt x="10515599" y="0"/>
                </a:lnTo>
                <a:lnTo>
                  <a:pt x="10515599" y="5193289"/>
                </a:lnTo>
                <a:lnTo>
                  <a:pt x="0" y="519328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28DCF5-C687-CF17-62A7-8C23DBC3BBDB}"/>
              </a:ext>
            </a:extLst>
          </p:cNvPr>
          <p:cNvSpPr txBox="1"/>
          <p:nvPr/>
        </p:nvSpPr>
        <p:spPr>
          <a:xfrm>
            <a:off x="2720421" y="511697"/>
            <a:ext cx="6751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UI/UX WIREFRAMES &amp; THEME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FCBFC-8A1A-DA25-6F70-1AB624DE6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371600"/>
            <a:ext cx="10139680" cy="2489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A669BC-CBD0-7DCE-BE15-686D74EA7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3958183"/>
            <a:ext cx="10139680" cy="269661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8C3C11-CF19-B7E8-F14C-0571BA219D6F}"/>
              </a:ext>
            </a:extLst>
          </p:cNvPr>
          <p:cNvCxnSpPr>
            <a:cxnSpLocks/>
          </p:cNvCxnSpPr>
          <p:nvPr/>
        </p:nvCxnSpPr>
        <p:spPr>
          <a:xfrm>
            <a:off x="1016000" y="3860800"/>
            <a:ext cx="10139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7D5DA7-CCF4-7D7C-F7E1-CFC35F8D6E6D}"/>
              </a:ext>
            </a:extLst>
          </p:cNvPr>
          <p:cNvCxnSpPr>
            <a:cxnSpLocks/>
          </p:cNvCxnSpPr>
          <p:nvPr/>
        </p:nvCxnSpPr>
        <p:spPr>
          <a:xfrm>
            <a:off x="1016000" y="3958183"/>
            <a:ext cx="10139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407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2DCFB-98A0-5452-ED1B-FBBC2F4E1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66001C-9351-0E55-B300-07A0E67AC022}"/>
              </a:ext>
            </a:extLst>
          </p:cNvPr>
          <p:cNvSpPr txBox="1"/>
          <p:nvPr/>
        </p:nvSpPr>
        <p:spPr>
          <a:xfrm>
            <a:off x="1343850" y="1282777"/>
            <a:ext cx="9504294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Project Boilerplate Setup includes: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Project setup includes initializing a GitHub repository, creating a client–server folder structure, installing required dependencies, configuring environment variables, and setting up essential configuration files such as .</a:t>
            </a:r>
            <a:r>
              <a:rPr lang="en-US" sz="2400" dirty="0" err="1"/>
              <a:t>gitignore</a:t>
            </a:r>
            <a:r>
              <a:rPr lang="en-US" sz="2400" dirty="0"/>
              <a:t> and README.md.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The system also includes an initialization route (/</a:t>
            </a:r>
            <a:r>
              <a:rPr lang="en-US" sz="2400" dirty="0" err="1"/>
              <a:t>api</a:t>
            </a:r>
            <a:r>
              <a:rPr lang="en-US" sz="2400" dirty="0"/>
              <a:t>/</a:t>
            </a:r>
            <a:r>
              <a:rPr lang="en-US" sz="2400" dirty="0" err="1"/>
              <a:t>init</a:t>
            </a:r>
            <a:r>
              <a:rPr lang="en-US" sz="2400" dirty="0"/>
              <a:t>) that seeds demo administrators, students, and multi-semester results for testing and development purposes.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D08BD69-F656-BD39-8BF4-CEC05FE9BE05}"/>
              </a:ext>
            </a:extLst>
          </p:cNvPr>
          <p:cNvSpPr/>
          <p:nvPr/>
        </p:nvSpPr>
        <p:spPr>
          <a:xfrm>
            <a:off x="919367" y="1282777"/>
            <a:ext cx="10353261" cy="4954196"/>
          </a:xfrm>
          <a:custGeom>
            <a:avLst/>
            <a:gdLst/>
            <a:ahLst/>
            <a:cxnLst/>
            <a:rect l="l" t="t" r="r" b="b"/>
            <a:pathLst>
              <a:path w="10515600" h="5193665">
                <a:moveTo>
                  <a:pt x="0" y="0"/>
                </a:moveTo>
                <a:lnTo>
                  <a:pt x="10515599" y="0"/>
                </a:lnTo>
                <a:lnTo>
                  <a:pt x="10515599" y="5193289"/>
                </a:lnTo>
                <a:lnTo>
                  <a:pt x="0" y="519328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41229E-F44E-2D2F-DFC6-95D78E4F338A}"/>
              </a:ext>
            </a:extLst>
          </p:cNvPr>
          <p:cNvSpPr txBox="1"/>
          <p:nvPr/>
        </p:nvSpPr>
        <p:spPr>
          <a:xfrm>
            <a:off x="2720420" y="481879"/>
            <a:ext cx="6751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BOILERPLATE SETUP</a:t>
            </a:r>
          </a:p>
        </p:txBody>
      </p:sp>
    </p:spTree>
    <p:extLst>
      <p:ext uri="{BB962C8B-B14F-4D97-AF65-F5344CB8AC3E}">
        <p14:creationId xmlns:p14="http://schemas.microsoft.com/office/powerpoint/2010/main" val="1232828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52937-F334-B2CE-A405-332228573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E809B3-943E-B4F2-A6C4-6C5E2E811502}"/>
              </a:ext>
            </a:extLst>
          </p:cNvPr>
          <p:cNvSpPr txBox="1"/>
          <p:nvPr/>
        </p:nvSpPr>
        <p:spPr>
          <a:xfrm>
            <a:off x="919367" y="1282777"/>
            <a:ext cx="9928777" cy="577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Project Boilerplate Setup :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5B535550-01B5-86F0-3B13-607BC60E3E4C}"/>
              </a:ext>
            </a:extLst>
          </p:cNvPr>
          <p:cNvSpPr/>
          <p:nvPr/>
        </p:nvSpPr>
        <p:spPr>
          <a:xfrm>
            <a:off x="919367" y="1282777"/>
            <a:ext cx="10353261" cy="4954196"/>
          </a:xfrm>
          <a:custGeom>
            <a:avLst/>
            <a:gdLst/>
            <a:ahLst/>
            <a:cxnLst/>
            <a:rect l="l" t="t" r="r" b="b"/>
            <a:pathLst>
              <a:path w="10515600" h="5193665">
                <a:moveTo>
                  <a:pt x="0" y="0"/>
                </a:moveTo>
                <a:lnTo>
                  <a:pt x="10515599" y="0"/>
                </a:lnTo>
                <a:lnTo>
                  <a:pt x="10515599" y="5193289"/>
                </a:lnTo>
                <a:lnTo>
                  <a:pt x="0" y="519328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5644C1-A8BC-4F1C-8A01-4C5CED6D74B4}"/>
              </a:ext>
            </a:extLst>
          </p:cNvPr>
          <p:cNvSpPr txBox="1"/>
          <p:nvPr/>
        </p:nvSpPr>
        <p:spPr>
          <a:xfrm>
            <a:off x="2720420" y="481879"/>
            <a:ext cx="6751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BOILERPLATE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B12304-FF8A-013E-2CAA-8FB7CF5B0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860564"/>
            <a:ext cx="3301999" cy="437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88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03408-5E2A-F74D-DEFC-DD21643B5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681449EA-5F1E-3BEE-70B4-64147EBFB308}"/>
              </a:ext>
            </a:extLst>
          </p:cNvPr>
          <p:cNvSpPr/>
          <p:nvPr/>
        </p:nvSpPr>
        <p:spPr>
          <a:xfrm>
            <a:off x="919367" y="1282777"/>
            <a:ext cx="10353261" cy="4954196"/>
          </a:xfrm>
          <a:custGeom>
            <a:avLst/>
            <a:gdLst/>
            <a:ahLst/>
            <a:cxnLst/>
            <a:rect l="l" t="t" r="r" b="b"/>
            <a:pathLst>
              <a:path w="10515600" h="5193665">
                <a:moveTo>
                  <a:pt x="0" y="0"/>
                </a:moveTo>
                <a:lnTo>
                  <a:pt x="10515599" y="0"/>
                </a:lnTo>
                <a:lnTo>
                  <a:pt x="10515599" y="5193289"/>
                </a:lnTo>
                <a:lnTo>
                  <a:pt x="0" y="519328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32A42-EDC1-F6DA-0A53-68DEB5D5D38D}"/>
              </a:ext>
            </a:extLst>
          </p:cNvPr>
          <p:cNvSpPr txBox="1"/>
          <p:nvPr/>
        </p:nvSpPr>
        <p:spPr>
          <a:xfrm>
            <a:off x="2720420" y="462001"/>
            <a:ext cx="6751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WORKFLOW &amp; DOCUMENTATION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35B9FE3-5F18-82D3-B0BE-0E597BB41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991" y="1457902"/>
            <a:ext cx="8319053" cy="3076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Repository is initialized with proper project structure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r>
              <a:rPr lang="en-US" alt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gitignore</a:t>
            </a: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is used to exclude unnecessary and sensitive files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main branch contains stable, production-ready code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develop branch is used for ongoing development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GitHub is used for version control and source code management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feature branches are created for new features</a:t>
            </a:r>
          </a:p>
        </p:txBody>
      </p:sp>
      <p:sp>
        <p:nvSpPr>
          <p:cNvPr id="5" name="TextBox 4">
            <a:hlinkClick r:id="rId2" action="ppaction://hlinkfile"/>
            <a:extLst>
              <a:ext uri="{FF2B5EF4-FFF2-40B4-BE49-F238E27FC236}">
                <a16:creationId xmlns:a16="http://schemas.microsoft.com/office/drawing/2014/main" id="{4A7A9944-4136-B7F5-DA05-F676C25EA876}"/>
              </a:ext>
            </a:extLst>
          </p:cNvPr>
          <p:cNvSpPr txBox="1"/>
          <p:nvPr/>
        </p:nvSpPr>
        <p:spPr>
          <a:xfrm>
            <a:off x="1470991" y="5113558"/>
            <a:ext cx="8179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README Documentation Link :  </a:t>
            </a:r>
            <a:endParaRPr lang="en-IN" sz="2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416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665</Words>
  <Application>Microsoft Office PowerPoint</Application>
  <PresentationFormat>Widescreen</PresentationFormat>
  <Paragraphs>75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Cambria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RANJITH B</dc:creator>
  <cp:lastModifiedBy>rethikaa shree</cp:lastModifiedBy>
  <cp:revision>4</cp:revision>
  <dcterms:created xsi:type="dcterms:W3CDTF">2026-02-11T04:20:05Z</dcterms:created>
  <dcterms:modified xsi:type="dcterms:W3CDTF">2026-02-13T09:04:24Z</dcterms:modified>
</cp:coreProperties>
</file>